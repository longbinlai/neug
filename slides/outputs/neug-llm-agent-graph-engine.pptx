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7f80d3a2e914083" /><Relationship Type="http://schemas.openxmlformats.org/officeDocument/2006/relationships/extended-properties" Target="/docProps/app.xml" Id="Rc040587b5df241c6" /><Relationship Type="http://schemas.openxmlformats.org/officeDocument/2006/relationships/officeDocument" Target="/ppt/presentation.xml" Id="R63469a4233ae4c0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0118bbc31de4959"/>
  </p:sldMasterIdLst>
  <p:notesMasterIdLst>
    <p:notesMasterId xmlns:r="http://schemas.openxmlformats.org/officeDocument/2006/relationships" r:id="R2298cf8704f541c6"/>
  </p:notesMasterIdLst>
  <p:sldIdLst>
    <p:sldId xmlns:r="http://schemas.openxmlformats.org/officeDocument/2006/relationships" id="256" r:id="Re852ce7b8ae647e1"/>
    <p:sldId xmlns:r="http://schemas.openxmlformats.org/officeDocument/2006/relationships" id="257" r:id="R620fa202bdc64c83"/>
    <p:sldId xmlns:r="http://schemas.openxmlformats.org/officeDocument/2006/relationships" id="258" r:id="R6011bb84c9d34627"/>
    <p:sldId xmlns:r="http://schemas.openxmlformats.org/officeDocument/2006/relationships" id="259" r:id="R1b7bf6fa6bbb49a2"/>
    <p:sldId xmlns:r="http://schemas.openxmlformats.org/officeDocument/2006/relationships" id="260" r:id="R327f42cbb599466d"/>
    <p:sldId xmlns:r="http://schemas.openxmlformats.org/officeDocument/2006/relationships" id="261" r:id="R7994df50eb894cbe"/>
    <p:sldId xmlns:r="http://schemas.openxmlformats.org/officeDocument/2006/relationships" id="262" r:id="Ra3c2793233ba42ee"/>
    <p:sldId xmlns:r="http://schemas.openxmlformats.org/officeDocument/2006/relationships" id="263" r:id="R6f74288bc0ce4e6b"/>
    <p:sldId xmlns:r="http://schemas.openxmlformats.org/officeDocument/2006/relationships" id="264" r:id="R553126cfee5f4616"/>
    <p:sldId xmlns:r="http://schemas.openxmlformats.org/officeDocument/2006/relationships" id="265" r:id="R899269d9eec14614"/>
    <p:sldId xmlns:r="http://schemas.openxmlformats.org/officeDocument/2006/relationships" id="266" r:id="R4974577f8b0d4331"/>
    <p:sldId xmlns:r="http://schemas.openxmlformats.org/officeDocument/2006/relationships" id="267" r:id="R2719c1acc8094b99"/>
    <p:sldId xmlns:r="http://schemas.openxmlformats.org/officeDocument/2006/relationships" id="268" r:id="R0f4ea233d32f46ff"/>
    <p:sldId xmlns:r="http://schemas.openxmlformats.org/officeDocument/2006/relationships" id="269" r:id="R08c93386726e4d3f"/>
    <p:sldId xmlns:r="http://schemas.openxmlformats.org/officeDocument/2006/relationships" id="270" r:id="R349286afde884d2a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e00d75cfe14f32" /><Relationship Type="http://schemas.openxmlformats.org/officeDocument/2006/relationships/slideMaster" Target="/ppt/slideMasters/slideMaster1.xml" Id="R80118bbc31de4959" /><Relationship Type="http://schemas.openxmlformats.org/officeDocument/2006/relationships/notesMaster" Target="/ppt/notesMasters/notesMaster1.xml" Id="R2298cf8704f541c6" /><Relationship Type="http://schemas.openxmlformats.org/officeDocument/2006/relationships/presProps" Target="/ppt/presProps.xml" Id="R8f93756e413f4636" /><Relationship Type="http://schemas.openxmlformats.org/officeDocument/2006/relationships/tableStyles" Target="/ppt/tableStyles.xml" Id="R88d104116a714279" /><Relationship Type="http://schemas.openxmlformats.org/officeDocument/2006/relationships/slide" Target="/ppt/slides/slide1.xml" Id="Re852ce7b8ae647e1" /><Relationship Type="http://schemas.openxmlformats.org/officeDocument/2006/relationships/slide" Target="/ppt/slides/slide2.xml" Id="R620fa202bdc64c83" /><Relationship Type="http://schemas.openxmlformats.org/officeDocument/2006/relationships/slide" Target="/ppt/slides/slide3.xml" Id="R6011bb84c9d34627" /><Relationship Type="http://schemas.openxmlformats.org/officeDocument/2006/relationships/slide" Target="/ppt/slides/slide4.xml" Id="R1b7bf6fa6bbb49a2" /><Relationship Type="http://schemas.openxmlformats.org/officeDocument/2006/relationships/slide" Target="/ppt/slides/slide5.xml" Id="R327f42cbb599466d" /><Relationship Type="http://schemas.openxmlformats.org/officeDocument/2006/relationships/slide" Target="/ppt/slides/slide6.xml" Id="R7994df50eb894cbe" /><Relationship Type="http://schemas.openxmlformats.org/officeDocument/2006/relationships/slide" Target="/ppt/slides/slide7.xml" Id="Ra3c2793233ba42ee" /><Relationship Type="http://schemas.openxmlformats.org/officeDocument/2006/relationships/slide" Target="/ppt/slides/slide8.xml" Id="R6f74288bc0ce4e6b" /><Relationship Type="http://schemas.openxmlformats.org/officeDocument/2006/relationships/slide" Target="/ppt/slides/slide9.xml" Id="R553126cfee5f4616" /><Relationship Type="http://schemas.openxmlformats.org/officeDocument/2006/relationships/slide" Target="/ppt/slides/slide10.xml" Id="R899269d9eec14614" /><Relationship Type="http://schemas.openxmlformats.org/officeDocument/2006/relationships/slide" Target="/ppt/slides/slide11.xml" Id="R4974577f8b0d4331" /><Relationship Type="http://schemas.openxmlformats.org/officeDocument/2006/relationships/slide" Target="/ppt/slides/slide12.xml" Id="R2719c1acc8094b99" /><Relationship Type="http://schemas.openxmlformats.org/officeDocument/2006/relationships/slide" Target="/ppt/slides/slide13.xml" Id="R0f4ea233d32f46ff" /><Relationship Type="http://schemas.openxmlformats.org/officeDocument/2006/relationships/slide" Target="/ppt/slides/slide14.xml" Id="R08c93386726e4d3f" /><Relationship Type="http://schemas.openxmlformats.org/officeDocument/2006/relationships/slide" Target="/ppt/slides/slide15.xml" Id="R349286afde884d2a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7561907fda74b1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efad2c7e9b44961" /><Relationship Type="http://schemas.openxmlformats.org/officeDocument/2006/relationships/notesMaster" Target="/ppt/notesMasters/notesMaster1.xml" Id="Rf92a5fc2614c441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51e84e260784b96" /><Relationship Type="http://schemas.openxmlformats.org/officeDocument/2006/relationships/notesMaster" Target="/ppt/notesMasters/notesMaster1.xml" Id="Rc588a3e56e574e4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60a6398fbbd4bee" /><Relationship Type="http://schemas.openxmlformats.org/officeDocument/2006/relationships/notesMaster" Target="/ppt/notesMasters/notesMaster1.xml" Id="Rd222ffba237a483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f37db98a81641bc" /><Relationship Type="http://schemas.openxmlformats.org/officeDocument/2006/relationships/notesMaster" Target="/ppt/notesMasters/notesMaster1.xml" Id="Rcc00c793b288423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465d299b64e4d44" /><Relationship Type="http://schemas.openxmlformats.org/officeDocument/2006/relationships/notesMaster" Target="/ppt/notesMasters/notesMaster1.xml" Id="R7668fb7256a84fe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56e475bf66b34b72" /><Relationship Type="http://schemas.openxmlformats.org/officeDocument/2006/relationships/notesMaster" Target="/ppt/notesMasters/notesMaster1.xml" Id="R54fc6812fdcc4cf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b62fb7febcdd44f5" /><Relationship Type="http://schemas.openxmlformats.org/officeDocument/2006/relationships/notesMaster" Target="/ppt/notesMasters/notesMaster1.xml" Id="R645ecf5998974833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27c14f56a284d59" /><Relationship Type="http://schemas.openxmlformats.org/officeDocument/2006/relationships/notesMaster" Target="/ppt/notesMasters/notesMaster1.xml" Id="R0c89a65a9e0d48d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6db38e4996c46bf" /><Relationship Type="http://schemas.openxmlformats.org/officeDocument/2006/relationships/notesMaster" Target="/ppt/notesMasters/notesMaster1.xml" Id="R682174ac77ae4c4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960acb8f60c45b1" /><Relationship Type="http://schemas.openxmlformats.org/officeDocument/2006/relationships/notesMaster" Target="/ppt/notesMasters/notesMaster1.xml" Id="R8134fa9474c74f1f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436923ab28c45c8" /><Relationship Type="http://schemas.openxmlformats.org/officeDocument/2006/relationships/notesMaster" Target="/ppt/notesMasters/notesMaster1.xml" Id="R423ed25f190849c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f9e8117efa9424c" /><Relationship Type="http://schemas.openxmlformats.org/officeDocument/2006/relationships/notesMaster" Target="/ppt/notesMasters/notesMaster1.xml" Id="R46e975c92d5f424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114039b4bf54b8a" /><Relationship Type="http://schemas.openxmlformats.org/officeDocument/2006/relationships/notesMaster" Target="/ppt/notesMasters/notesMaster1.xml" Id="Rbc457ce4550148c7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a9f8c15b3b141f3" /><Relationship Type="http://schemas.openxmlformats.org/officeDocument/2006/relationships/notesMaster" Target="/ppt/notesMasters/notesMaster1.xml" Id="R82a48199f28445fb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c18e8f46f00343b3" /><Relationship Type="http://schemas.openxmlformats.org/officeDocument/2006/relationships/notesMaster" Target="/ppt/notesMasters/notesMaster1.xml" Id="Rdb526e14ee6f45b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77ac836c20348d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7c8058abaa541f4" /><Relationship Type="http://schemas.openxmlformats.org/officeDocument/2006/relationships/slideLayout" Target="/ppt/slideLayouts/slideLayout1.xml" Id="R0aa342ded0804157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aa342ded0804157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4e05a657e5147ac" /><Relationship Type="http://schemas.openxmlformats.org/officeDocument/2006/relationships/notesSlide" Target="/ppt/notesSlides/notesSlide1.xml" Id="Rcced652678d94a1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9f93533555424c" /><Relationship Type="http://schemas.openxmlformats.org/officeDocument/2006/relationships/notesSlide" Target="/ppt/notesSlides/notesSlide2.xml" Id="Rd57c8e4b48a2464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10c4126d084983" /><Relationship Type="http://schemas.openxmlformats.org/officeDocument/2006/relationships/notesSlide" Target="/ppt/notesSlides/notesSlide3.xml" Id="Rd8bae7edf02b488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24d7780d644127" /><Relationship Type="http://schemas.openxmlformats.org/officeDocument/2006/relationships/notesSlide" Target="/ppt/notesSlides/notesSlide4.xml" Id="R80839f2bbd10436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00c3e4c604c42e7" /><Relationship Type="http://schemas.openxmlformats.org/officeDocument/2006/relationships/notesSlide" Target="/ppt/notesSlides/notesSlide5.xml" Id="Rfe013257102a413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c9bd532e114959" /><Relationship Type="http://schemas.openxmlformats.org/officeDocument/2006/relationships/notesSlide" Target="/ppt/notesSlides/notesSlide6.xml" Id="R686fad837588479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2be0b702e54cfd" /><Relationship Type="http://schemas.openxmlformats.org/officeDocument/2006/relationships/notesSlide" Target="/ppt/notesSlides/notesSlide7.xml" Id="R099b779b730c404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7a7a3889be4941" /><Relationship Type="http://schemas.openxmlformats.org/officeDocument/2006/relationships/notesSlide" Target="/ppt/notesSlides/notesSlide8.xml" Id="Rd926c2b6c76b4ae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e43116622274b0e" /><Relationship Type="http://schemas.openxmlformats.org/officeDocument/2006/relationships/notesSlide" Target="/ppt/notesSlides/notesSlide9.xml" Id="R79790c0bf6074f6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79ac7eb000416b" /><Relationship Type="http://schemas.openxmlformats.org/officeDocument/2006/relationships/notesSlide" Target="/ppt/notesSlides/notesSlide10.xml" Id="R265908aeb9b94341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39db7682004575" /><Relationship Type="http://schemas.openxmlformats.org/officeDocument/2006/relationships/notesSlide" Target="/ppt/notesSlides/notesSlide11.xml" Id="R842444e0f30644a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d39fa158d2450f" /><Relationship Type="http://schemas.openxmlformats.org/officeDocument/2006/relationships/notesSlide" Target="/ppt/notesSlides/notesSlide12.xml" Id="Rc42c8e702dca4c27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af14995c0c4275" /><Relationship Type="http://schemas.openxmlformats.org/officeDocument/2006/relationships/notesSlide" Target="/ppt/notesSlides/notesSlide13.xml" Id="Rb2af266ac4b54ab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8cd28c89c4f410f" /><Relationship Type="http://schemas.openxmlformats.org/officeDocument/2006/relationships/notesSlide" Target="/ppt/notesSlides/notesSlide14.xml" Id="R5bfd7837a3c2478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c19f705c5454f53" /><Relationship Type="http://schemas.openxmlformats.org/officeDocument/2006/relationships/notesSlide" Target="/ppt/notesSlides/notesSlide15.xml" Id="Rad8e590ab86845cc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0D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2427DD-6734-4116-AE8E-EF1D483A1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704850"/>
            <a:ext cx="2381250" cy="2381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9BE7C5"/>
          </a:solidFill>
          <a:ln xmlns:a="http://schemas.openxmlformats.org/drawingml/2006/main" w="0">
            <a:solidFill>
              <a:srgbClr val="9BE7C5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0D107A-59E4-47C4-9969-093B8DC72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838450"/>
            <a:ext cx="1619250" cy="1619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D6FF"/>
          </a:solidFill>
          <a:ln xmlns:a="http://schemas.openxmlformats.org/drawingml/2006/main" w="0">
            <a:solidFill>
              <a:srgbClr val="76D6FF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46C54C-71DD-430F-8B78-E947FBE22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9BE7C5"/>
                </a:solidFill>
              </a:defRPr>
            </a:pPr>
            <a:r>
              <a:rPr sz="2250" b="1">
                <a:solidFill>
                  <a:srgbClr val="9BE7C5"/>
                </a:solidFill>
              </a:rPr>
              <a:t>NeuG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594C62-3FB2-405F-A769-68CECD718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7810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F4F0E8"/>
                </a:solidFill>
              </a:defRPr>
            </a:pPr>
            <a:r>
              <a:rPr sz="4350" b="1">
                <a:solidFill>
                  <a:srgbClr val="F4F0E8"/>
                </a:solidFill>
              </a:rPr>
              <a:t>面向 LLM 与 Agent 的</a:t>
            </a:r>
          </a:p>
          <a:p xmlns:a="http://schemas.openxmlformats.org/drawingml/2006/main">
            <a:pPr>
              <a:defRPr sz="4350" b="1">
                <a:solidFill>
                  <a:srgbClr val="F4F0E8"/>
                </a:solidFill>
              </a:defRPr>
            </a:pPr>
            <a:r>
              <a:rPr sz="4350" b="1">
                <a:solidFill>
                  <a:srgbClr val="F4F0E8"/>
                </a:solidFill>
              </a:rPr>
              <a:t>嵌入式图数据引擎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2570F59-AC17-4C37-85C9-AF49E1D5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7620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A7A29A"/>
                </a:solidFill>
              </a:defRPr>
            </a:pPr>
            <a:r>
              <a:rPr sz="1800">
                <a:solidFill>
                  <a:srgbClr val="A7A29A"/>
                </a:solidFill>
              </a:rPr>
              <a:t>支撑企业知识库、自动化分析与未来端侧关联索引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9CAD0F9-44B5-4DDE-A517-D295A88BE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10125"/>
            <a:ext cx="171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E7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C2C067F-D515-4CE4-B0F2-7690BB8F3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67300"/>
            <a:ext cx="885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A7A29A"/>
                </a:solidFill>
              </a:defRPr>
            </a:pPr>
            <a:r>
              <a:rPr sz="1350">
                <a:solidFill>
                  <a:srgbClr val="A7A29A"/>
                </a:solidFill>
              </a:rPr>
              <a:t>高性能图查询  |  轻量嵌入  |  企业知识库  |  自动化分析  |  端侧关联索引</a:t>
            </a:r>
          </a:p>
        </p:txBody>
      </p:sp>
    </p:spTree>
    <p:extLst>
      <p:ext uri="{BB962C8B-B14F-4D97-AF65-F5344CB8AC3E}">
        <p14:creationId xmlns:p14="http://schemas.microsoft.com/office/powerpoint/2010/main" val="80741978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0D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335195-AE17-41E2-AAED-0ABEC68BF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BE7C5"/>
                </a:solidFill>
              </a:defRPr>
            </a:pPr>
            <a:r>
              <a:rPr sz="975" b="1">
                <a:solidFill>
                  <a:srgbClr val="9BE7C5"/>
                </a:solidFill>
              </a:rPr>
              <a:t>WHY NOW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A39F5A9-453E-4BDA-AD21-C0D947D0D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0E8"/>
                </a:solidFill>
              </a:defRPr>
            </a:pPr>
            <a:r>
              <a:rPr sz="2850" b="1">
                <a:solidFill>
                  <a:srgbClr val="F4F0E8"/>
                </a:solidFill>
              </a:rPr>
              <a:t>LLM 与 Agent 需要一个新的数据底座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D43336-A1FA-458C-87A5-CD0746D8D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B625F"/>
                </a:solidFill>
              </a:defRPr>
            </a:pPr>
            <a:r>
              <a:rPr sz="825">
                <a:solidFill>
                  <a:srgbClr val="5B625F"/>
                </a:solidFill>
              </a:rPr>
              <a:t>NeuG confidential draft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600B4CC-151D-4EA6-A1D4-388EF8412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B625F"/>
                </a:solidFill>
              </a:defRPr>
            </a:pPr>
            <a:r>
              <a:rPr sz="1050">
                <a:solidFill>
                  <a:srgbClr val="5B625F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753FB1C-887C-4E7F-9991-1C9ED720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5905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F4F0E8"/>
                </a:solidFill>
              </a:defRPr>
            </a:pPr>
            <a:r>
              <a:rPr sz="1875">
                <a:solidFill>
                  <a:srgbClr val="F4F0E8"/>
                </a:solidFill>
              </a:rPr>
              <a:t>纯向量召回只能回答“相似”，但 Agent 真正需要的是“相关”。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E27F178-C91C-4FF6-93F7-13600850F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190875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6CB5CA-5BE3-4B91-8B80-0307CC1D5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76550"/>
            <a:ext cx="381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E7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54381E3-BE1A-47FF-9022-C5324BB13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6100"/>
            <a:ext cx="2733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企业侧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2A59C6-CE15-421D-8900-15A11FF74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24250"/>
            <a:ext cx="27336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知识散落在文档、代码、会议、客户和业务系统中。LLM 需要可追溯的组织记忆。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3274658-BD62-4F60-A056-4779F9B1C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76550"/>
            <a:ext cx="3190875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85FB5B-A148-4404-9F1B-E5DDF1221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76550"/>
            <a:ext cx="381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D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2856CC0-B4B7-4DDD-965F-ED287604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086100"/>
            <a:ext cx="2733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分析侧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0449528-6754-406A-B22A-FE0BE94AE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3524250"/>
            <a:ext cx="27336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经营分析不是一次查询，而是沿业务关系连续下钻、解释原因、复用中间结果。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36BA717-E8EF-4312-80E1-D30E6B480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76550"/>
            <a:ext cx="3190875" cy="1733550"/>
          </a:xfrm>
          <a:prstGeom xmlns:a="http://schemas.openxmlformats.org/drawingml/2006/main" prst="roundRect">
            <a:avLst>
              <a:gd name="adj" fmla="val 4396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81F6BE3-9A4F-492C-8676-4FFCB93FE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2876550"/>
            <a:ext cx="38100" cy="1733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7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FA3B29-186E-4C00-B0C2-A44CCAFC7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086100"/>
            <a:ext cx="273367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端侧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4D06750-A552-4F9E-8D9A-D37E5482F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3524250"/>
            <a:ext cx="2733675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手机、眼镜等设备需要低延迟、隐私友好的本地关联索引。当前是未来延展方向。</a:t>
            </a:r>
          </a:p>
        </p:txBody>
      </p:sp>
    </p:spTree>
    <p:extLst>
      <p:ext uri="{BB962C8B-B14F-4D97-AF65-F5344CB8AC3E}">
        <p14:creationId xmlns:p14="http://schemas.microsoft.com/office/powerpoint/2010/main" val="15216324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0D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47E31486-2F52-4E50-AA3D-8E6B5196E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BE7C5"/>
                </a:solidFill>
              </a:defRPr>
            </a:pPr>
            <a:r>
              <a:rPr sz="975" b="1">
                <a:solidFill>
                  <a:srgbClr val="9BE7C5"/>
                </a:solidFill>
              </a:rPr>
              <a:t>POSITIONING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EE89C6F-8FDD-4E61-9D9D-803C2832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0E8"/>
                </a:solidFill>
              </a:defRPr>
            </a:pPr>
            <a:r>
              <a:rPr sz="2850" b="1">
                <a:solidFill>
                  <a:srgbClr val="F4F0E8"/>
                </a:solidFill>
              </a:rPr>
              <a:t>NeuG 的定位是嵌入式图数据引擎，而不是单点应用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94B19A-8AAD-445E-B8B2-334352212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B625F"/>
                </a:solidFill>
              </a:defRPr>
            </a:pPr>
            <a:r>
              <a:rPr sz="825">
                <a:solidFill>
                  <a:srgbClr val="5B625F"/>
                </a:solidFill>
              </a:rPr>
              <a:t>NeuG confidential draft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40A6B10-888B-4527-9B6C-2B79C9B2C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B625F"/>
                </a:solidFill>
              </a:defRPr>
            </a:pPr>
            <a:r>
              <a:rPr sz="1050">
                <a:solidFill>
                  <a:srgbClr val="5B625F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9874B1-9459-47A8-9457-0C5DE5120F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8572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F4F0E8"/>
                </a:solidFill>
              </a:defRPr>
            </a:pPr>
            <a:r>
              <a:rPr sz="1875">
                <a:solidFill>
                  <a:srgbClr val="F4F0E8"/>
                </a:solidFill>
              </a:rPr>
              <a:t>NeuG 把图关系、文本、向量、图算法和采样分析收敛到一个轻量高性能底座。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92FDE9-4F21-49F2-9E20-8B969FA57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1465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261F"/>
          </a:solidFill>
          <a:ln xmlns:a="http://schemas.openxmlformats.org/drawingml/2006/main" w="11430">
            <a:solidFill>
              <a:srgbClr val="9BE7C5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CD22DB-60EE-44C5-B844-2A9E9429C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371850"/>
            <a:ext cx="1104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F0E8"/>
                </a:solidFill>
              </a:defRPr>
            </a:pPr>
            <a:r>
              <a:rPr sz="1650" b="1">
                <a:solidFill>
                  <a:srgbClr val="F4F0E8"/>
                </a:solidFill>
              </a:rPr>
              <a:t>Graph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6EDCE7-FCE3-4243-A908-715250FC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275" y="3533775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8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BD595F-0F8D-4FC1-BB55-BF416D8DC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91465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2531"/>
          </a:solidFill>
          <a:ln xmlns:a="http://schemas.openxmlformats.org/drawingml/2006/main" w="11430">
            <a:solidFill>
              <a:srgbClr val="76D6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5AA2E2-CF5D-4D4F-A239-5696B2006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3371850"/>
            <a:ext cx="1104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F0E8"/>
                </a:solidFill>
              </a:defRPr>
            </a:pPr>
            <a:r>
              <a:rPr sz="1650" b="1">
                <a:solidFill>
                  <a:srgbClr val="F4F0E8"/>
                </a:solidFill>
              </a:rPr>
              <a:t>Vector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C1BE1E-C597-4BDA-A298-15B1A798A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3533775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8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3030ECC-1F3E-4CBB-87FB-9CA430834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91465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261F"/>
          </a:solidFill>
          <a:ln xmlns:a="http://schemas.openxmlformats.org/drawingml/2006/main" w="11430">
            <a:solidFill>
              <a:srgbClr val="9BE7C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173D9C-35F7-4EAB-809D-AB20790BA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3371850"/>
            <a:ext cx="1104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F0E8"/>
                </a:solidFill>
              </a:defRPr>
            </a:pPr>
            <a:r>
              <a:rPr sz="1650" b="1">
                <a:solidFill>
                  <a:srgbClr val="F4F0E8"/>
                </a:solidFill>
              </a:rPr>
              <a:t>Full-text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5205F81-803F-4844-A7C5-361779DD0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3533775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8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A096A3-2F0F-40E4-87A9-29C5D889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291465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42531"/>
          </a:solidFill>
          <a:ln xmlns:a="http://schemas.openxmlformats.org/drawingml/2006/main" w="11430">
            <a:solidFill>
              <a:srgbClr val="76D6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DBB609-C32B-4FA7-B539-A2C5306C5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371850"/>
            <a:ext cx="1104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F0E8"/>
                </a:solidFill>
              </a:defRPr>
            </a:pPr>
            <a:r>
              <a:rPr sz="1650" b="1">
                <a:solidFill>
                  <a:srgbClr val="F4F0E8"/>
                </a:solidFill>
              </a:rPr>
              <a:t>GDS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104C1C-5988-48B0-B826-092FAE6D7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86775" y="3533775"/>
            <a:ext cx="800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8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BB989C-C28A-4C9D-8A56-97BA725DD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914650"/>
            <a:ext cx="1257300" cy="1257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6261F"/>
          </a:solidFill>
          <a:ln xmlns:a="http://schemas.openxmlformats.org/drawingml/2006/main" w="11430">
            <a:solidFill>
              <a:srgbClr val="9BE7C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8C45014-CB65-4F39-B6E9-6C6456AC2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371850"/>
            <a:ext cx="1104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4F0E8"/>
                </a:solidFill>
              </a:defRPr>
            </a:pPr>
            <a:r>
              <a:rPr sz="1650" b="1">
                <a:solidFill>
                  <a:srgbClr val="F4F0E8"/>
                </a:solidFill>
              </a:rPr>
              <a:t>Sampling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05583A1-73EC-4510-921F-E842E9E81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8577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650">
                <a:solidFill>
                  <a:srgbClr val="A7A29A"/>
                </a:solidFill>
              </a:defRPr>
            </a:pPr>
            <a:r>
              <a:rPr sz="1650">
                <a:solidFill>
                  <a:srgbClr val="A7A29A"/>
                </a:solidFill>
              </a:rPr>
              <a:t>同一个底座，上接企业知识库与 NeuGBI，下沉到嵌入式 runtime，未来可服务端侧生态。</a:t>
            </a:r>
          </a:p>
        </p:txBody>
      </p:sp>
    </p:spTree>
    <p:extLst>
      <p:ext uri="{BB962C8B-B14F-4D97-AF65-F5344CB8AC3E}">
        <p14:creationId xmlns:p14="http://schemas.microsoft.com/office/powerpoint/2010/main" val="91162796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0D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6DE333BA-8B1A-4316-83BA-D6FA0A1D9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BE7C5"/>
                </a:solidFill>
              </a:defRPr>
            </a:pPr>
            <a:r>
              <a:rPr sz="975" b="1">
                <a:solidFill>
                  <a:srgbClr val="9BE7C5"/>
                </a:solidFill>
              </a:rPr>
              <a:t>FOUNDATION 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62855E-B9C7-4911-8D34-782554D1C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0E8"/>
                </a:solidFill>
              </a:defRPr>
            </a:pPr>
            <a:r>
              <a:rPr sz="2850" b="1">
                <a:solidFill>
                  <a:srgbClr val="F4F0E8"/>
                </a:solidFill>
              </a:rPr>
              <a:t>NeuG 已把嵌入式形态做到单机顶级图查询性能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FE726A5-7EF0-4966-A455-276A442D3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B625F"/>
                </a:solidFill>
              </a:defRPr>
            </a:pPr>
            <a:r>
              <a:rPr sz="825">
                <a:solidFill>
                  <a:srgbClr val="5B625F"/>
                </a:solidFill>
              </a:rPr>
              <a:t>NeuG confidential draft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141A70-6E33-4C13-AE3F-5291CB8C45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B625F"/>
                </a:solidFill>
              </a:defRPr>
            </a:pPr>
            <a:r>
              <a:rPr sz="1050">
                <a:solidFill>
                  <a:srgbClr val="5B625F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0236C27-8189-420F-88D5-92B4EECAA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62150"/>
            <a:ext cx="3048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9BE7C5"/>
                </a:solidFill>
              </a:defRPr>
            </a:pPr>
            <a:r>
              <a:rPr sz="3300" b="1">
                <a:solidFill>
                  <a:srgbClr val="9BE7C5"/>
                </a:solidFill>
              </a:rPr>
              <a:t>110,000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415147-0CDF-497F-B15B-18FF1BB2F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52700"/>
            <a:ext cx="3048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当前 LDBC-300 标准图测试 QPS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E5D5DED-2701-4B92-8C90-C79A10866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9621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76D6FF"/>
                </a:solidFill>
              </a:defRPr>
            </a:pPr>
            <a:r>
              <a:rPr sz="3300" b="1">
                <a:solidFill>
                  <a:srgbClr val="76D6FF"/>
                </a:solidFill>
              </a:rPr>
              <a:t>80,000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457EEE8-9142-46C2-9170-45AFD3998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5527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团队当年 LDBC 打榜成绩 QPS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B4F9ED-9F5A-4935-9BD3-80D2C6A1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19621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E8C77E"/>
                </a:solidFill>
              </a:defRPr>
            </a:pPr>
            <a:r>
              <a:rPr sz="3300" b="1">
                <a:solidFill>
                  <a:srgbClr val="E8C77E"/>
                </a:solidFill>
              </a:rPr>
              <a:t>百亿边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A97821-CA01-4641-B52C-745BD82FA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552700"/>
            <a:ext cx="3143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单机大规模图数据处理能力方向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A9475E-61DC-4417-ADCA-88914D8FF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52850"/>
            <a:ext cx="49530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101316"/>
          </a:solidFill>
          <a:ln xmlns:a="http://schemas.openxmlformats.org/drawingml/2006/main" w="14288">
            <a:solidFill>
              <a:srgbClr val="3038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B202BA0-2210-446A-B629-58B57FF62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62400"/>
            <a:ext cx="4533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8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250C0B-B21C-4893-9AC7-A67446948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4340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76D6FF"/>
                </a:solidFill>
              </a:defRPr>
            </a:pPr>
            <a:r>
              <a:rPr sz="1425" b="1">
                <a:solidFill>
                  <a:srgbClr val="76D6FF"/>
                </a:solidFill>
              </a:rPr>
              <a:t>预留：Mac 单机 LDBC benchmark 对比 Neo4j 图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C87904E-ED36-4225-A50C-C2AD38869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752850"/>
            <a:ext cx="49530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101316"/>
          </a:solidFill>
          <a:ln xmlns:a="http://schemas.openxmlformats.org/drawingml/2006/main" w="14288">
            <a:solidFill>
              <a:srgbClr val="30383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BFEE8EE-DD65-49EC-B248-DC2136170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962400"/>
            <a:ext cx="4533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8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F7300F-247B-491A-9FA2-28BAF98E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34340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9BE7C5"/>
                </a:solidFill>
              </a:defRPr>
            </a:pPr>
            <a:r>
              <a:rPr sz="1425" b="1">
                <a:solidFill>
                  <a:srgbClr val="9BE7C5"/>
                </a:solidFill>
              </a:rPr>
              <a:t>预留：LDBC-300 110,000 QPS 结果截图或柱状图</a:t>
            </a:r>
          </a:p>
        </p:txBody>
      </p:sp>
    </p:spTree>
    <p:extLst>
      <p:ext uri="{BB962C8B-B14F-4D97-AF65-F5344CB8AC3E}">
        <p14:creationId xmlns:p14="http://schemas.microsoft.com/office/powerpoint/2010/main" val="48550345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0D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99F5DEC7-CCE8-4040-A350-B9E8509FF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BE7C5"/>
                </a:solidFill>
              </a:defRPr>
            </a:pPr>
            <a:r>
              <a:rPr sz="975" b="1">
                <a:solidFill>
                  <a:srgbClr val="9BE7C5"/>
                </a:solidFill>
              </a:rPr>
              <a:t>FOUNDATION 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255BB3-C42D-4B2B-9C03-217E36941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0E8"/>
                </a:solidFill>
              </a:defRPr>
            </a:pPr>
            <a:r>
              <a:rPr sz="2850" b="1">
                <a:solidFill>
                  <a:srgbClr val="F4F0E8"/>
                </a:solidFill>
              </a:rPr>
              <a:t>NeuG 的轻量体积为端侧适配预留空间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357727-7A55-4367-95D9-07B89EF5F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B625F"/>
                </a:solidFill>
              </a:defRPr>
            </a:pPr>
            <a:r>
              <a:rPr sz="825">
                <a:solidFill>
                  <a:srgbClr val="5B625F"/>
                </a:solidFill>
              </a:rPr>
              <a:t>NeuG confidential draft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BBBBB9A-7250-430E-ADAA-9A7CC40A7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B625F"/>
                </a:solidFill>
              </a:defRPr>
            </a:pPr>
            <a:r>
              <a:rPr sz="1050">
                <a:solidFill>
                  <a:srgbClr val="5B625F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BF3334-F62F-4DFC-941E-2E06104C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0764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9BE7C5"/>
                </a:solidFill>
              </a:defRPr>
            </a:pPr>
            <a:r>
              <a:rPr sz="3300" b="1">
                <a:solidFill>
                  <a:srgbClr val="9BE7C5"/>
                </a:solidFill>
              </a:rPr>
              <a:t>21MB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C6F421-1C25-4714-BCD0-F3800675E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670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v0.1.3 pip 安装包大小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772CE3-3544-4190-B95A-94C4953D2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0764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76D6FF"/>
                </a:solidFill>
              </a:defRPr>
            </a:pPr>
            <a:r>
              <a:rPr sz="3300" b="1">
                <a:solidFill>
                  <a:srgbClr val="76D6FF"/>
                </a:solidFill>
              </a:rPr>
              <a:t>70MB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F6B4A5-411B-418B-8823-89498AA10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670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解压后整体体积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0E8B94-63FC-4775-ABE0-B14BC3C55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7645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E8C77E"/>
                </a:solidFill>
              </a:defRPr>
            </a:pPr>
            <a:r>
              <a:rPr sz="3300" b="1">
                <a:solidFill>
                  <a:srgbClr val="E8C77E"/>
                </a:solidFill>
              </a:rPr>
              <a:t>50MB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5F5ECD6-613E-4C67-B5A5-84671BA7A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670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预计仍可继续瘦身空间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32D9EF3-3387-45C8-84EA-5A8CA570E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29050"/>
            <a:ext cx="88582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F4F0E8"/>
                </a:solidFill>
              </a:defRPr>
            </a:pPr>
            <a:r>
              <a:rPr sz="1725">
                <a:solidFill>
                  <a:srgbClr val="F4F0E8"/>
                </a:solidFill>
              </a:rPr>
              <a:t>这组数字让“嵌入式”不只是工程口号。NeuG 当前已经足够小，未来经过依赖裁剪和二进制瘦身，可以适配手机、眼镜等更极限的设备环境。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DEB7F5-ADFA-4D3C-BA21-F1745C3F9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010150"/>
            <a:ext cx="8858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A7A29A"/>
                </a:solidFill>
              </a:defRPr>
            </a:pPr>
            <a:r>
              <a:rPr sz="1350">
                <a:solidFill>
                  <a:srgbClr val="A7A29A"/>
                </a:solidFill>
              </a:rPr>
              <a:t>端侧是战略延展，不抢当前主线；它为千问眼镜等生态预留了本地关联索引入口。</a:t>
            </a:r>
          </a:p>
        </p:txBody>
      </p:sp>
    </p:spTree>
    <p:extLst>
      <p:ext uri="{BB962C8B-B14F-4D97-AF65-F5344CB8AC3E}">
        <p14:creationId xmlns:p14="http://schemas.microsoft.com/office/powerpoint/2010/main" val="54275125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0D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CCC47A72-B284-4B8B-902D-02223C2B3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BE7C5"/>
                </a:solidFill>
              </a:defRPr>
            </a:pPr>
            <a:r>
              <a:rPr sz="975" b="1">
                <a:solidFill>
                  <a:srgbClr val="9BE7C5"/>
                </a:solidFill>
              </a:rPr>
              <a:t>CAPABILITY 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122C951-7DAC-4AFA-BD88-FF02AB359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0E8"/>
                </a:solidFill>
              </a:defRPr>
            </a:pPr>
            <a:r>
              <a:rPr sz="2850" b="1">
                <a:solidFill>
                  <a:srgbClr val="F4F0E8"/>
                </a:solidFill>
              </a:rPr>
              <a:t>NeuG 的能力建设围绕 LLM 数据中间层展开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873C74-7207-4308-AB50-896BE4F7D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B625F"/>
                </a:solidFill>
              </a:defRPr>
            </a:pPr>
            <a:r>
              <a:rPr sz="825">
                <a:solidFill>
                  <a:srgbClr val="5B625F"/>
                </a:solidFill>
              </a:rPr>
              <a:t>NeuG confidential draft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52A963-3BAE-4A13-BDB9-A7DB9FA90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B625F"/>
                </a:solidFill>
              </a:defRPr>
            </a:pPr>
            <a:r>
              <a:rPr sz="1050">
                <a:solidFill>
                  <a:srgbClr val="5B625F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AB9F013-7D10-476D-9F9A-25BBC0AD3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29146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A3F60A4-5746-44AF-A747-CAD7529C8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47850"/>
            <a:ext cx="381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E7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B1C44D-ACC8-42AC-A8CD-54062F450C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574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Vector Extension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F706D42-F4A9-4523-A52F-9151F0413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95550"/>
            <a:ext cx="2457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语义召回、相似检索、memory embedding。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DA5187-6AA3-4129-BED1-61FA12EBF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847850"/>
            <a:ext cx="29146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955D565-3B3C-431B-A716-F8B2E4F73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847850"/>
            <a:ext cx="381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D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56DFC0-2E43-4DEA-BFB8-0781F56C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0574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Full-text Search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C917E3-B4E7-4B39-844C-3DB1DBD09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95550"/>
            <a:ext cx="2457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关键词、短语、结构化过滤与可解释匹配。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FF24868-EB6B-47B2-8A96-703F620D5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47850"/>
            <a:ext cx="29146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32EBE9-665D-4B43-AEE1-270BB5B8E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2800" y="1847850"/>
            <a:ext cx="381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7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9C4FEFA-3336-4616-80C4-E442B9697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05740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GDS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69575A5-B435-4E9C-BABA-DDD952AA6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95550"/>
            <a:ext cx="2457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PageRank、BFS、SSSP、community detection。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9B6ECBD-828F-49B2-9545-1F842C735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48100"/>
            <a:ext cx="29146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613C930-DFE2-4F77-81A4-A1DD513EB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3848100"/>
            <a:ext cx="381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D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FDC0D6-3D7F-4A40-9612-77FB0FDF9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0576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Data Pipeline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7652BF2-E97F-45FC-9CFC-414DB4EE2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495800"/>
            <a:ext cx="2457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S3/OSS、Parquet、COPY TEMP，接入企业数据湖。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1E8B03-20B1-4EF1-B063-A4BAAFC14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848100"/>
            <a:ext cx="2914650" cy="1466850"/>
          </a:xfrm>
          <a:prstGeom xmlns:a="http://schemas.openxmlformats.org/drawingml/2006/main" prst="roundRect">
            <a:avLst>
              <a:gd name="adj" fmla="val 5195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E43D843-138E-4668-9288-A68BA004E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2600" y="3848100"/>
            <a:ext cx="38100" cy="1466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E7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3AE9EA7-D25C-48A6-A21A-0134E0F12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057650"/>
            <a:ext cx="2457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Sampling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E023C2-D861-4378-B51D-57E6A1EB3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95800"/>
            <a:ext cx="24574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支撑 agent 在大规模数据上保持交互式分析时效。</a:t>
            </a:r>
          </a:p>
        </p:txBody>
      </p:sp>
    </p:spTree>
    <p:extLst>
      <p:ext uri="{BB962C8B-B14F-4D97-AF65-F5344CB8AC3E}">
        <p14:creationId xmlns:p14="http://schemas.microsoft.com/office/powerpoint/2010/main" val="5502329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0D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D55DD49-E37B-433B-92C7-629232720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BE7C5"/>
                </a:solidFill>
              </a:defRPr>
            </a:pPr>
            <a:r>
              <a:rPr sz="975" b="1">
                <a:solidFill>
                  <a:srgbClr val="9BE7C5"/>
                </a:solidFill>
              </a:rPr>
              <a:t>LLM MEMORY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7611DA-7077-4E15-B986-CC2F978FE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0E8"/>
                </a:solidFill>
              </a:defRPr>
            </a:pPr>
            <a:r>
              <a:rPr sz="2850" b="1">
                <a:solidFill>
                  <a:srgbClr val="F4F0E8"/>
                </a:solidFill>
              </a:rPr>
              <a:t>企业知识库需要图、向量和全文统一工作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A5A1C9-F1AF-4692-9B26-92E4709F8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B625F"/>
                </a:solidFill>
              </a:defRPr>
            </a:pPr>
            <a:r>
              <a:rPr sz="825">
                <a:solidFill>
                  <a:srgbClr val="5B625F"/>
                </a:solidFill>
              </a:rPr>
              <a:t>NeuG confidential draft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71DFDE-5500-47E5-A9B8-BD6DE8307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B625F"/>
                </a:solidFill>
              </a:defRPr>
            </a:pPr>
            <a:r>
              <a:rPr sz="1050">
                <a:solidFill>
                  <a:srgbClr val="5B625F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E94F99-FA7A-468D-98BB-EDD2DF840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8763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4F0E8"/>
                </a:solidFill>
              </a:defRPr>
            </a:pPr>
            <a:r>
              <a:rPr sz="1800">
                <a:solidFill>
                  <a:srgbClr val="F4F0E8"/>
                </a:solidFill>
              </a:rPr>
              <a:t>纯 RAG 容易把知识切碎；NeuG 更适合保留实体、关系、来源和上下文。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7B9B63-3BE9-44D3-B379-E2753CA2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47950"/>
            <a:ext cx="2952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33107FC-5F7E-4238-83C9-D7158B456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47950"/>
            <a:ext cx="381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E7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F2415F-A9F3-44BD-95D9-34BCF2E30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575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更准召回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3112ADA-E03F-40E7-B654-C84E030AE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295650"/>
            <a:ext cx="2495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向量负责语义相似，全文负责精确匹配，图关系负责上下文扩展。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D8DFFD0-1B4F-4347-82A3-71AA51C50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47950"/>
            <a:ext cx="2952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E8D444-ED9A-4FEB-85EA-658723AEC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150" y="2647950"/>
            <a:ext cx="381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D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13A1E1E-DD25-4306-AEDA-1E8CA893B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8575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更可追溯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658DD2-CFD1-408F-AC43-BCA0FBA3D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295650"/>
            <a:ext cx="2495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文档、代码、会议、人员、项目和决策都可以保留引用链路。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E396CC-BEEF-4F8D-B744-25451526A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47950"/>
            <a:ext cx="2952750" cy="17907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25AECD3-DB30-4A11-A472-B850654AC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2647950"/>
            <a:ext cx="38100" cy="1790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7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CB65B41-63CC-4593-A565-61F70CE96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857500"/>
            <a:ext cx="24955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更能沉淀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F14E7E-36CA-4037-B5D2-B6C1E504E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95650"/>
            <a:ext cx="24955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组织记忆不再只是 prompt 历史，而是可更新、可查询的数据资产。</a:t>
            </a:r>
          </a:p>
        </p:txBody>
      </p:sp>
    </p:spTree>
    <p:extLst>
      <p:ext uri="{BB962C8B-B14F-4D97-AF65-F5344CB8AC3E}">
        <p14:creationId xmlns:p14="http://schemas.microsoft.com/office/powerpoint/2010/main" val="2285241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0D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F52677F-6887-4978-8AF8-0E96A69E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BE7C5"/>
                </a:solidFill>
              </a:defRPr>
            </a:pPr>
            <a:r>
              <a:rPr sz="975" b="1">
                <a:solidFill>
                  <a:srgbClr val="9BE7C5"/>
                </a:solidFill>
              </a:rPr>
              <a:t>GRAPH DATA SCIENCE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198882-D756-4097-B036-D2D62F1C3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0E8"/>
                </a:solidFill>
              </a:defRPr>
            </a:pPr>
            <a:r>
              <a:rPr sz="2850" b="1">
                <a:solidFill>
                  <a:srgbClr val="F4F0E8"/>
                </a:solidFill>
              </a:rPr>
              <a:t>GDS 让知识库和 BI 从检索走向结构洞察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CA145A-B247-4038-95C5-430B0AA39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B625F"/>
                </a:solidFill>
              </a:defRPr>
            </a:pPr>
            <a:r>
              <a:rPr sz="825">
                <a:solidFill>
                  <a:srgbClr val="5B625F"/>
                </a:solidFill>
              </a:rPr>
              <a:t>NeuG confidential draft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83483F-A93A-4813-9DEB-415F27326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B625F"/>
                </a:solidFill>
              </a:defRPr>
            </a:pPr>
            <a:r>
              <a:rPr sz="1050">
                <a:solidFill>
                  <a:srgbClr val="5B625F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2B3C7A-88EF-4F57-82AC-468E25214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4953000" cy="3352800"/>
          </a:xfrm>
          <a:prstGeom xmlns:a="http://schemas.openxmlformats.org/drawingml/2006/main" prst="roundRect">
            <a:avLst>
              <a:gd name="adj" fmla="val 2273"/>
            </a:avLst>
          </a:prstGeom>
          <a:solidFill xmlns:a="http://schemas.openxmlformats.org/drawingml/2006/main">
            <a:srgbClr val="101316"/>
          </a:solidFill>
          <a:ln xmlns:a="http://schemas.openxmlformats.org/drawingml/2006/main" w="14288">
            <a:solidFill>
              <a:srgbClr val="3038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46B1B5E-C0E2-4597-8805-620068FA3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00250"/>
            <a:ext cx="45339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8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0FFE6F-45BC-42B3-953C-58B8EF56D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276600"/>
            <a:ext cx="4381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9BE7C5"/>
                </a:solidFill>
              </a:defRPr>
            </a:pPr>
            <a:r>
              <a:rPr sz="1425" b="1">
                <a:solidFill>
                  <a:srgbClr val="9BE7C5"/>
                </a:solidFill>
              </a:rPr>
              <a:t>预留：GDS 算法能力图谱或调用流程图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EECFE2-F032-43F8-84F1-8125C24D2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66900"/>
            <a:ext cx="46291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75">
                <a:solidFill>
                  <a:srgbClr val="F4F0E8"/>
                </a:solidFill>
              </a:defRPr>
            </a:pPr>
            <a:r>
              <a:rPr sz="1875">
                <a:solidFill>
                  <a:srgbClr val="F4F0E8"/>
                </a:solidFill>
              </a:rPr>
              <a:t>图算法直接在数据库内运行，避免把数据搬到外部工具。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10944D4-06C0-4537-B161-7782DB335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00350"/>
            <a:ext cx="462915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A7A29A"/>
                </a:solidFill>
              </a:defRPr>
            </a:pPr>
            <a:r>
              <a:rPr sz="1650">
                <a:solidFill>
                  <a:srgbClr val="A7A29A"/>
                </a:solidFill>
              </a:rPr>
              <a:t>PageRank 用于重要节点排序</a:t>
            </a:r>
          </a:p>
          <a:p xmlns:a="http://schemas.openxmlformats.org/drawingml/2006/main">
            <a:pPr>
              <a:defRPr sz="1650">
                <a:solidFill>
                  <a:srgbClr val="A7A29A"/>
                </a:solidFill>
              </a:defRPr>
            </a:pPr>
            <a:r>
              <a:rPr sz="1650">
                <a:solidFill>
                  <a:srgbClr val="A7A29A"/>
                </a:solidFill>
              </a:rPr>
              <a:t>BFS / DFS 用于自动探索路径</a:t>
            </a:r>
          </a:p>
          <a:p xmlns:a="http://schemas.openxmlformats.org/drawingml/2006/main">
            <a:pPr>
              <a:defRPr sz="1650">
                <a:solidFill>
                  <a:srgbClr val="A7A29A"/>
                </a:solidFill>
              </a:defRPr>
            </a:pPr>
            <a:r>
              <a:rPr sz="1650">
                <a:solidFill>
                  <a:srgbClr val="A7A29A"/>
                </a:solidFill>
              </a:rPr>
              <a:t>Community detection 用于发现业务群组</a:t>
            </a:r>
          </a:p>
          <a:p xmlns:a="http://schemas.openxmlformats.org/drawingml/2006/main">
            <a:pPr>
              <a:defRPr sz="1650">
                <a:solidFill>
                  <a:srgbClr val="A7A29A"/>
                </a:solidFill>
              </a:defRPr>
            </a:pPr>
            <a:r>
              <a:rPr sz="1650">
                <a:solidFill>
                  <a:srgbClr val="A7A29A"/>
                </a:solidFill>
              </a:rPr>
              <a:t>SSSP / WCC 用于路径和连通性分析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F9BD8F-7E16-45AA-ACBF-D07CED09A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196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9BE7C5"/>
                </a:solidFill>
              </a:defRPr>
            </a:pPr>
            <a:r>
              <a:rPr sz="1650" b="1">
                <a:solidFill>
                  <a:srgbClr val="9BE7C5"/>
                </a:solidFill>
              </a:rPr>
              <a:t>业务意义：企业数据不只是被查到，而是能产生结构性解释。</a:t>
            </a:r>
          </a:p>
        </p:txBody>
      </p:sp>
    </p:spTree>
    <p:extLst>
      <p:ext uri="{BB962C8B-B14F-4D97-AF65-F5344CB8AC3E}">
        <p14:creationId xmlns:p14="http://schemas.microsoft.com/office/powerpoint/2010/main" val="5762739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0D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0FCCDA0-5353-492C-84A1-1923D44631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BE7C5"/>
                </a:solidFill>
              </a:defRPr>
            </a:pPr>
            <a:r>
              <a:rPr sz="975" b="1">
                <a:solidFill>
                  <a:srgbClr val="9BE7C5"/>
                </a:solidFill>
              </a:rPr>
              <a:t>DATA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43C5F9-F0B2-4AF6-880E-DF813B13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0E8"/>
                </a:solidFill>
              </a:defRPr>
            </a:pPr>
            <a:r>
              <a:rPr sz="2850" b="1">
                <a:solidFill>
                  <a:srgbClr val="F4F0E8"/>
                </a:solidFill>
              </a:rPr>
              <a:t>NeuG 可以接入现有数据湖，而不是制造新的数据孤岛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D00A05-4C46-4133-B0DD-963BA50DF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B625F"/>
                </a:solidFill>
              </a:defRPr>
            </a:pPr>
            <a:r>
              <a:rPr sz="825">
                <a:solidFill>
                  <a:srgbClr val="5B625F"/>
                </a:solidFill>
              </a:rPr>
              <a:t>NeuG confidential draft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C01161-A0C5-4C55-9279-E89892CE2A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B625F"/>
                </a:solidFill>
              </a:defRPr>
            </a:pPr>
            <a:r>
              <a:rPr sz="1050">
                <a:solidFill>
                  <a:srgbClr val="5B625F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DCE9FC-871B-41AB-9BA3-0D5234516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4F0E8"/>
                </a:solidFill>
              </a:defRPr>
            </a:pPr>
            <a:r>
              <a:rPr sz="1800">
                <a:solidFill>
                  <a:srgbClr val="F4F0E8"/>
                </a:solidFill>
              </a:rPr>
              <a:t>v0.1.2 以来的数据管道能力，让 NeuG 更像企业数据流里的图计算层。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B55FE8D-2C2B-4144-90EB-5B957F2B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52750"/>
            <a:ext cx="2095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BA450E-96AC-4D5D-9A32-584B0FD08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8135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9BE7C5"/>
                </a:solidFill>
              </a:defRPr>
            </a:pPr>
            <a:r>
              <a:rPr sz="1725" b="1">
                <a:solidFill>
                  <a:srgbClr val="9BE7C5"/>
                </a:solidFill>
              </a:rPr>
              <a:t>OSS / S3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7DCA2E-42A9-4AAF-957C-D712A7FED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远程 Parquet 直读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4AD842-66A1-4C9D-8CC3-5109A207E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71800" y="34861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2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EA62091-1979-45E7-B2E2-890D925D9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952750"/>
            <a:ext cx="2095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FC721C-C40C-4EC7-9706-ABE5AEBF2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18135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6D6FF"/>
                </a:solidFill>
              </a:defRPr>
            </a:pPr>
            <a:r>
              <a:rPr sz="1725" b="1">
                <a:solidFill>
                  <a:srgbClr val="76D6FF"/>
                </a:solidFill>
              </a:rPr>
              <a:t>Schema-on-read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C6AD95B-06B6-4C39-A403-1FA7F2DCD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623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自动推断列与类型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FD74A8-591F-497F-9F01-83567E924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4861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2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ACB43F9-770A-4095-B9EB-E0ECB4952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952750"/>
            <a:ext cx="2095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DF4E873-07A1-4A8E-9D62-5F157CC72C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8135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9BE7C5"/>
                </a:solidFill>
              </a:defRPr>
            </a:pPr>
            <a:r>
              <a:rPr sz="1725" b="1">
                <a:solidFill>
                  <a:srgbClr val="9BE7C5"/>
                </a:solidFill>
              </a:rPr>
              <a:t>Graph Query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155ECC3-759E-4541-A4FC-9F4397111A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5623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图查询与图算法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4793353-3E1C-47E2-B43B-554B8E4BB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34400" y="3486150"/>
            <a:ext cx="457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2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2CDB5A-8105-4AF3-8857-417F9AC2E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952750"/>
            <a:ext cx="2095500" cy="11239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E0CADE0-917E-4C4D-AC38-FA088AB9D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181350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76D6FF"/>
                </a:solidFill>
              </a:defRPr>
            </a:pPr>
            <a:r>
              <a:rPr sz="1725" b="1">
                <a:solidFill>
                  <a:srgbClr val="76D6FF"/>
                </a:solidFill>
              </a:rPr>
              <a:t>Parquet Writeback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B9DD1C-0F08-4651-BC73-4F2F7E13C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62350"/>
            <a:ext cx="1752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结果写回数据湖</a:t>
            </a:r>
          </a:p>
        </p:txBody>
      </p:sp>
    </p:spTree>
    <p:extLst>
      <p:ext uri="{BB962C8B-B14F-4D97-AF65-F5344CB8AC3E}">
        <p14:creationId xmlns:p14="http://schemas.microsoft.com/office/powerpoint/2010/main" val="10227480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0D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2E784A3C-030D-4A7D-8B41-1AE8FD921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BE7C5"/>
                </a:solidFill>
              </a:defRPr>
            </a:pPr>
            <a:r>
              <a:rPr sz="975" b="1">
                <a:solidFill>
                  <a:srgbClr val="9BE7C5"/>
                </a:solidFill>
              </a:rPr>
              <a:t>BUSINESS APPLICATION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A7FE7D-8EDA-48EC-B49D-22F0FB97B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0E8"/>
                </a:solidFill>
              </a:defRPr>
            </a:pPr>
            <a:r>
              <a:rPr sz="2850" b="1">
                <a:solidFill>
                  <a:srgbClr val="F4F0E8"/>
                </a:solidFill>
              </a:rPr>
              <a:t>NeuGBI 把 BI 从“问数”推进到“自动分析”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CBAFE2-FB39-44B3-A257-C187CC519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B625F"/>
                </a:solidFill>
              </a:defRPr>
            </a:pPr>
            <a:r>
              <a:rPr sz="825">
                <a:solidFill>
                  <a:srgbClr val="5B625F"/>
                </a:solidFill>
              </a:rPr>
              <a:t>NeuG confidential draft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D0CB55-77F6-4659-A02C-2A8B57F22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B625F"/>
                </a:solidFill>
              </a:defRPr>
            </a:pPr>
            <a:r>
              <a:rPr sz="1050">
                <a:solidFill>
                  <a:srgbClr val="5B625F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189DA0-243A-471B-9730-72D35F2B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4F0E8"/>
                </a:solidFill>
              </a:defRPr>
            </a:pPr>
            <a:r>
              <a:rPr sz="1800">
                <a:solidFill>
                  <a:srgbClr val="F4F0E8"/>
                </a:solidFill>
              </a:rPr>
              <a:t>ChatBI 解决自然语言到查询；NeuGBI 解决如何沿业务关系持续下钻。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853CEC5-D6A1-4131-89DE-C73251418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86050"/>
            <a:ext cx="445770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BF696C-5B2D-4A5B-9BDD-E96E253B9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86050"/>
            <a:ext cx="381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25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7483374-31C3-43D4-B143-AD256881C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8956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ChatBI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015722E-74E5-4A89-BF05-94635F40A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33750"/>
            <a:ext cx="4000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面向报表和 SQL 生成。问题通常被转成一次查询，后续追问依赖人工继续建模。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D6B795-38C4-4143-9465-DA53263FD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86050"/>
            <a:ext cx="4457700" cy="1885950"/>
          </a:xfrm>
          <a:prstGeom xmlns:a="http://schemas.openxmlformats.org/drawingml/2006/main" prst="roundRect">
            <a:avLst>
              <a:gd name="adj" fmla="val 4040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9BC0AA5-1D6A-4675-AB4E-8231F8436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686050"/>
            <a:ext cx="38100" cy="1885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E7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18B3A4D-6947-4BE3-9B3F-3AE7FC834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895600"/>
            <a:ext cx="4000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NeuGBI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5ECF4B-D9BE-43ED-885B-F81D894E0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333750"/>
            <a:ext cx="4000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基于图和超图重新建模。Agent 可以自动扩展维度、复用中间结果、沿关系分析原因。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187F293-2A18-4577-970F-6A2F3AB1B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5086350"/>
            <a:ext cx="6286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9BE7C5"/>
                </a:solidFill>
              </a:defRPr>
            </a:pPr>
            <a:r>
              <a:rPr sz="1800" b="1">
                <a:solidFill>
                  <a:srgbClr val="9BE7C5"/>
                </a:solidFill>
              </a:rPr>
              <a:t>核心变化：从生成图表，升级为生成分析路径。</a:t>
            </a:r>
          </a:p>
        </p:txBody>
      </p:sp>
    </p:spTree>
    <p:extLst>
      <p:ext uri="{BB962C8B-B14F-4D97-AF65-F5344CB8AC3E}">
        <p14:creationId xmlns:p14="http://schemas.microsoft.com/office/powerpoint/2010/main" val="47314797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0D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73A8FAC6-8208-4B24-BD33-266569F2C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BE7C5"/>
                </a:solidFill>
              </a:defRPr>
            </a:pPr>
            <a:r>
              <a:rPr sz="975" b="1">
                <a:solidFill>
                  <a:srgbClr val="9BE7C5"/>
                </a:solidFill>
              </a:rPr>
              <a:t>NEUGBI ENGINE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04E67B-170E-4DFB-BD32-582AA4063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0E8"/>
                </a:solidFill>
              </a:defRPr>
            </a:pPr>
            <a:r>
              <a:rPr sz="2850" b="1">
                <a:solidFill>
                  <a:srgbClr val="F4F0E8"/>
                </a:solidFill>
              </a:rPr>
              <a:t>NeuGBI 的差异化来自图探索、图分析和端到端采样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ABFAF6-41F5-47CE-A3B2-B922A51F6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B625F"/>
                </a:solidFill>
              </a:defRPr>
            </a:pPr>
            <a:r>
              <a:rPr sz="825">
                <a:solidFill>
                  <a:srgbClr val="5B625F"/>
                </a:solidFill>
              </a:rPr>
              <a:t>NeuG confidential draft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2F405F-B519-4690-AF1D-FB84A9C6F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B625F"/>
                </a:solidFill>
              </a:defRPr>
            </a:pPr>
            <a:r>
              <a:rPr sz="1050">
                <a:solidFill>
                  <a:srgbClr val="5B625F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9FC2972-5043-4091-BF08-380D444A2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31051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6D3D420-7C0B-4D3E-B61F-984142CEE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381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E7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9750A23-CE66-43C5-BB62-F5C69E8417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7645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自动下钻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A36FF9-7738-4D44-8222-D215BAADA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514600"/>
            <a:ext cx="264795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沿业务图做 BFS / DFS 式探索，自动发现可解释的下一层维度。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65FD72-474E-45F0-8D3F-CDEBEC0F3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66900"/>
            <a:ext cx="31051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BDD920A-4D1B-4C28-8FB5-0651539AC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1866900"/>
            <a:ext cx="381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D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06F2F98-E557-4743-8791-90BFC70CE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07645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图分析指标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DFF868-C965-4AE6-9DAE-BB61961DE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514600"/>
            <a:ext cx="264795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把 PageRank、community detection 等结构指标引入 BI，而不只看聚合值。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C9A6662-C058-4B23-8B2F-C74488794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66900"/>
            <a:ext cx="3105150" cy="247650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72F55F3-2997-44DC-B968-AC8E21B4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1866900"/>
            <a:ext cx="38100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7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82C67B-FC8B-4040-BAA1-7BA92AA28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076450"/>
            <a:ext cx="2647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端到端采样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080D34-7296-4026-A1A0-12A811B0F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514600"/>
            <a:ext cx="2647950" cy="1638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让大规模数据分析保持时效性，适合 agent 多轮探索。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A8C016-F6AE-4330-AB1E-E5F7CCFF46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762500"/>
            <a:ext cx="82105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101316"/>
          </a:solidFill>
          <a:ln xmlns:a="http://schemas.openxmlformats.org/drawingml/2006/main" w="14288">
            <a:solidFill>
              <a:srgbClr val="30383D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5922597-F682-464F-A6CB-1467EC3E5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972050"/>
            <a:ext cx="77914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8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E4E97F8-10FB-48FC-A42A-522D57888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4914900"/>
            <a:ext cx="7639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76D6FF"/>
                </a:solidFill>
              </a:defRPr>
            </a:pPr>
            <a:r>
              <a:rPr sz="1425" b="1">
                <a:solidFill>
                  <a:srgbClr val="76D6FF"/>
                </a:solidFill>
              </a:rPr>
              <a:t>预留：问题 -&gt; 自动下钻路径 -&gt; 业务洞察流程图</a:t>
            </a:r>
          </a:p>
        </p:txBody>
      </p:sp>
    </p:spTree>
    <p:extLst>
      <p:ext uri="{BB962C8B-B14F-4D97-AF65-F5344CB8AC3E}">
        <p14:creationId xmlns:p14="http://schemas.microsoft.com/office/powerpoint/2010/main" val="456792695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0D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A35242E1-B331-4B76-91D1-8F2BAD0B7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BE7C5"/>
                </a:solidFill>
              </a:defRPr>
            </a:pPr>
            <a:r>
              <a:rPr sz="975" b="1">
                <a:solidFill>
                  <a:srgbClr val="9BE7C5"/>
                </a:solidFill>
              </a:rPr>
              <a:t>CASE PLACEHOLDER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16D0278-0BDF-47B3-BD06-E6F055A84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0E8"/>
                </a:solidFill>
              </a:defRPr>
            </a:pPr>
            <a:r>
              <a:rPr sz="2850" b="1">
                <a:solidFill>
                  <a:srgbClr val="F4F0E8"/>
                </a:solidFill>
              </a:rPr>
              <a:t>NeuGBI 的业务表达应贴近经营分析场景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7B526D-FD1D-4D54-9691-666C39C0B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B625F"/>
                </a:solidFill>
              </a:defRPr>
            </a:pPr>
            <a:r>
              <a:rPr sz="825">
                <a:solidFill>
                  <a:srgbClr val="5B625F"/>
                </a:solidFill>
              </a:rPr>
              <a:t>NeuG confidential draft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E591E1-D8EA-4AA4-99C7-13BB41BD1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B625F"/>
                </a:solidFill>
              </a:defRPr>
            </a:pPr>
            <a:r>
              <a:rPr sz="1050">
                <a:solidFill>
                  <a:srgbClr val="5B625F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141998-7EC4-44E7-ABEE-F4227A310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7165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4F0E8"/>
                </a:solidFill>
              </a:defRPr>
            </a:pPr>
            <a:r>
              <a:rPr sz="1800">
                <a:solidFill>
                  <a:srgbClr val="F4F0E8"/>
                </a:solidFill>
              </a:rPr>
              <a:t>建议使用“招聘与岗位变化分析”一类案例，保留多维下钻价值，避免学术研究案例抢走业务主线。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02FC5E-A1CC-4920-A355-7E7278F3D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781300"/>
            <a:ext cx="4762500" cy="20955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101316"/>
          </a:solidFill>
          <a:ln xmlns:a="http://schemas.openxmlformats.org/drawingml/2006/main" w="14288">
            <a:solidFill>
              <a:srgbClr val="3038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E96A9B-CF99-4F0C-9E02-CC8EF5883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990850"/>
            <a:ext cx="434340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8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DCB7714-625E-4855-BD38-F74148F5D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638550"/>
            <a:ext cx="419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9BE7C5"/>
                </a:solidFill>
              </a:defRPr>
            </a:pPr>
            <a:r>
              <a:rPr sz="1425" b="1">
                <a:solidFill>
                  <a:srgbClr val="9BE7C5"/>
                </a:solidFill>
              </a:rPr>
              <a:t>预留：行业 -&gt; 地区 -&gt; 职级 -&gt; 岗位 的自动分析路径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5B286D-2365-4E91-99D7-92783AB57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838450"/>
            <a:ext cx="342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9BE7C5"/>
                </a:solidFill>
              </a:defRPr>
            </a:pPr>
            <a:r>
              <a:rPr sz="1800" b="1">
                <a:solidFill>
                  <a:srgbClr val="9BE7C5"/>
                </a:solidFill>
              </a:rPr>
              <a:t>可展示的结果形态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E625436-E378-4A77-97DE-EAAD7781A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371850"/>
            <a:ext cx="4000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650">
                <a:solidFill>
                  <a:srgbClr val="A7A29A"/>
                </a:solidFill>
              </a:defRPr>
            </a:pPr>
            <a:r>
              <a:rPr sz="1650">
                <a:solidFill>
                  <a:srgbClr val="A7A29A"/>
                </a:solidFill>
              </a:rPr>
              <a:t>1. Agent 自动拆解问题</a:t>
            </a:r>
          </a:p>
          <a:p xmlns:a="http://schemas.openxmlformats.org/drawingml/2006/main">
            <a:pPr>
              <a:defRPr sz="1650">
                <a:solidFill>
                  <a:srgbClr val="A7A29A"/>
                </a:solidFill>
              </a:defRPr>
            </a:pPr>
            <a:r>
              <a:rPr sz="1650">
                <a:solidFill>
                  <a:srgbClr val="A7A29A"/>
                </a:solidFill>
              </a:rPr>
              <a:t>2. 沿业务关系扩展维度</a:t>
            </a:r>
          </a:p>
          <a:p xmlns:a="http://schemas.openxmlformats.org/drawingml/2006/main">
            <a:pPr>
              <a:defRPr sz="1650">
                <a:solidFill>
                  <a:srgbClr val="A7A29A"/>
                </a:solidFill>
              </a:defRPr>
            </a:pPr>
            <a:r>
              <a:rPr sz="1650">
                <a:solidFill>
                  <a:srgbClr val="A7A29A"/>
                </a:solidFill>
              </a:rPr>
              <a:t>3. 给出趋势、原因和异常群组</a:t>
            </a:r>
          </a:p>
          <a:p xmlns:a="http://schemas.openxmlformats.org/drawingml/2006/main">
            <a:pPr>
              <a:defRPr sz="1650">
                <a:solidFill>
                  <a:srgbClr val="A7A29A"/>
                </a:solidFill>
              </a:defRPr>
            </a:pPr>
            <a:r>
              <a:rPr sz="1650">
                <a:solidFill>
                  <a:srgbClr val="A7A29A"/>
                </a:solidFill>
              </a:rPr>
              <a:t>4. 支持回溯到数据来源</a:t>
            </a:r>
          </a:p>
        </p:txBody>
      </p:sp>
    </p:spTree>
    <p:extLst>
      <p:ext uri="{BB962C8B-B14F-4D97-AF65-F5344CB8AC3E}">
        <p14:creationId xmlns:p14="http://schemas.microsoft.com/office/powerpoint/2010/main" val="114371648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0D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B67D5711-D232-4399-819E-1F17126F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BE7C5"/>
                </a:solidFill>
              </a:defRPr>
            </a:pPr>
            <a:r>
              <a:rPr sz="975" b="1">
                <a:solidFill>
                  <a:srgbClr val="9BE7C5"/>
                </a:solidFill>
              </a:rPr>
              <a:t>RESEARCH FRONTIER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4EED3E5-07AE-4B0A-BB5A-ED215B680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0E8"/>
                </a:solidFill>
              </a:defRPr>
            </a:pPr>
            <a:r>
              <a:rPr sz="2850" b="1">
                <a:solidFill>
                  <a:srgbClr val="F4F0E8"/>
                </a:solidFill>
              </a:rPr>
              <a:t>SpecDB 是团队面向未来数据库形态的研究壁垒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9FDFFC-ED29-4E87-859E-FE31462C43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B625F"/>
                </a:solidFill>
              </a:defRPr>
            </a:pPr>
            <a:r>
              <a:rPr sz="825">
                <a:solidFill>
                  <a:srgbClr val="5B625F"/>
                </a:solidFill>
              </a:rPr>
              <a:t>NeuG confidential draft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2DA3A5-DD19-46CC-9272-AB1A77351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B625F"/>
                </a:solidFill>
              </a:defRPr>
            </a:pPr>
            <a:r>
              <a:rPr sz="1050">
                <a:solidFill>
                  <a:srgbClr val="5B625F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8B242D9-D6F2-47A6-9EA5-8E5E0E8D8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4F0E8"/>
                </a:solidFill>
              </a:defRPr>
            </a:pPr>
            <a:r>
              <a:rPr sz="1800">
                <a:solidFill>
                  <a:srgbClr val="F4F0E8"/>
                </a:solidFill>
              </a:rPr>
              <a:t>核心问题：能否让 LLM 直接生成满足特定工作负载需求的数据库系统？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05D1503-6CA5-4BB1-8ADC-23BA907D8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9BE7C5"/>
                </a:solidFill>
              </a:defRPr>
            </a:pPr>
            <a:r>
              <a:rPr sz="3300" b="1">
                <a:solidFill>
                  <a:srgbClr val="9BE7C5"/>
                </a:solidFill>
              </a:rPr>
              <a:t>TPC-C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2924D5-7ED4-4BF8-8997-171FA2839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最新生成版本吞吐超过 PostgreSQL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93BC25-27EE-489E-9498-25CF9A7BF7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43200"/>
            <a:ext cx="3429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3300" b="1">
                <a:solidFill>
                  <a:srgbClr val="76D6FF"/>
                </a:solidFill>
              </a:defRPr>
            </a:pPr>
            <a:r>
              <a:rPr sz="3300" b="1">
                <a:solidFill>
                  <a:srgbClr val="76D6FF"/>
                </a:solidFill>
              </a:rPr>
              <a:t>TPC-H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2A53C2E-A6A2-4DD6-A5B6-C41063B5E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333750"/>
            <a:ext cx="3429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最新生成版本时延超过 DuckDB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8BB604-0699-4966-A4F6-9B141EC5B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819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>
                <a:solidFill>
                  <a:srgbClr val="A7A29A"/>
                </a:solidFill>
              </a:defRPr>
            </a:pPr>
            <a:r>
              <a:rPr sz="1725">
                <a:solidFill>
                  <a:srgbClr val="A7A29A"/>
                </a:solidFill>
              </a:rPr>
              <a:t>这不是当前业务主线，但它会反哺 NeuG 的模块化、测试、优化器和自动生成能力。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2FB79F8-9574-4F54-8585-5CDD6FC8E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552700"/>
            <a:ext cx="2076450" cy="2000250"/>
          </a:xfrm>
          <a:prstGeom xmlns:a="http://schemas.openxmlformats.org/drawingml/2006/main" prst="roundRect">
            <a:avLst>
              <a:gd name="adj" fmla="val 3810"/>
            </a:avLst>
          </a:prstGeom>
          <a:solidFill xmlns:a="http://schemas.openxmlformats.org/drawingml/2006/main">
            <a:srgbClr val="101316"/>
          </a:solidFill>
          <a:ln xmlns:a="http://schemas.openxmlformats.org/drawingml/2006/main" w="14288">
            <a:solidFill>
              <a:srgbClr val="30383D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55936A7-0A05-402B-B7A9-37A58EC13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62250"/>
            <a:ext cx="16573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8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6719E5E-D4CA-4576-93A9-9E5D66EA9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362325"/>
            <a:ext cx="15049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E8C77E"/>
                </a:solidFill>
              </a:defRPr>
            </a:pPr>
            <a:r>
              <a:rPr sz="1425" b="1">
                <a:solidFill>
                  <a:srgbClr val="E8C77E"/>
                </a:solidFill>
              </a:rPr>
              <a:t>预留：SpecDB pipeline 图</a:t>
            </a:r>
          </a:p>
        </p:txBody>
      </p:sp>
    </p:spTree>
    <p:extLst>
      <p:ext uri="{BB962C8B-B14F-4D97-AF65-F5344CB8AC3E}">
        <p14:creationId xmlns:p14="http://schemas.microsoft.com/office/powerpoint/2010/main" val="113321119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0D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8DD3C9FE-8622-4F82-95D1-205BA79BE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BE7C5"/>
                </a:solidFill>
              </a:defRPr>
            </a:pPr>
            <a:r>
              <a:rPr sz="975" b="1">
                <a:solidFill>
                  <a:srgbClr val="9BE7C5"/>
                </a:solidFill>
              </a:rPr>
              <a:t>FUTURE OPTION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253A8F-DA72-4240-84F8-0C7D85DD9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0E8"/>
                </a:solidFill>
              </a:defRPr>
            </a:pPr>
            <a:r>
              <a:rPr sz="2850" b="1">
                <a:solidFill>
                  <a:srgbClr val="F4F0E8"/>
                </a:solidFill>
              </a:rPr>
              <a:t>端侧关联索引是未来生态延展，不是当前汇报主轴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9CFDA6-DBFD-4E32-AC67-B1B346171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B625F"/>
                </a:solidFill>
              </a:defRPr>
            </a:pPr>
            <a:r>
              <a:rPr sz="825">
                <a:solidFill>
                  <a:srgbClr val="5B625F"/>
                </a:solidFill>
              </a:rPr>
              <a:t>NeuG confidential draft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7F890D-C7BF-4369-ACFA-EDE1F5D60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B625F"/>
                </a:solidFill>
              </a:defRPr>
            </a:pPr>
            <a:r>
              <a:rPr sz="1050">
                <a:solidFill>
                  <a:srgbClr val="5B625F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EC2E9DC-2D15-4A66-AD0A-62C90CAC6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52600"/>
            <a:ext cx="9144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F4F0E8"/>
                </a:solidFill>
              </a:defRPr>
            </a:pPr>
            <a:r>
              <a:rPr sz="1800">
                <a:solidFill>
                  <a:srgbClr val="F4F0E8"/>
                </a:solidFill>
              </a:rPr>
              <a:t>NeuG 的高性能和轻量体积，为千问眼镜、手机、可穿戴、车载和机器人预留了本地数据引擎入口。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537DE8-98E9-4390-B917-3DD6F625D0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00350"/>
            <a:ext cx="304800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27294E1-49A9-4C90-9289-6DB2641FF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800350"/>
            <a:ext cx="381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E7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CCFBB2-1E05-49E3-ABE0-D6D6689A8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0099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本地记忆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AEFF8C-357F-4859-A676-0235B6B1A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448050"/>
            <a:ext cx="2590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人物、地点、事件、对话和任务在端上形成长期关联。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BB14695-B6DB-44F2-8516-09A3E22A9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00350"/>
            <a:ext cx="304800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554EB2A-D39D-4702-8957-E8DCF66D6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800350"/>
            <a:ext cx="381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D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B3AFBA-CB25-4272-87A8-B86FFC633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0099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低延迟与隐私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726AC7C-ECA5-472F-AB2E-A709E625E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448050"/>
            <a:ext cx="2590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常用上下文不必每次上云，关键个人数据可以本地检索。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A41DFFE-F4F3-4401-996D-208003E69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00350"/>
            <a:ext cx="3048000" cy="1771650"/>
          </a:xfrm>
          <a:prstGeom xmlns:a="http://schemas.openxmlformats.org/drawingml/2006/main" prst="roundRect">
            <a:avLst>
              <a:gd name="adj" fmla="val 4301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BA4BB9-2FA3-4C2B-BA07-2BCC5327E7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3900" y="2800350"/>
            <a:ext cx="38100" cy="1771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7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9DEBD7-B68D-4ED7-987D-B3FE66F4B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009900"/>
            <a:ext cx="2590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生态入口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05D0932-617F-4B13-9A30-F33F8F399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448050"/>
            <a:ext cx="2590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千问眼镜等设备需要的不只是模型，也需要可持续积累的关联索引。</a:t>
            </a:r>
          </a:p>
        </p:txBody>
      </p:sp>
    </p:spTree>
    <p:extLst>
      <p:ext uri="{BB962C8B-B14F-4D97-AF65-F5344CB8AC3E}">
        <p14:creationId xmlns:p14="http://schemas.microsoft.com/office/powerpoint/2010/main" val="36960182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0D0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" name="">
            <a:extLst xmlns:a="http://schemas.openxmlformats.org/drawingml/2006/main">
              <a:ext uri="{FF2B5EF4-FFF2-40B4-BE49-F238E27FC236}">
                <a16:creationId xmlns:a16="http://schemas.microsoft.com/office/drawing/2014/main" id="{E1B9FAD6-4ACE-4038-84F9-6FCC41FA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38150"/>
            <a:ext cx="5905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9BE7C5"/>
                </a:solidFill>
              </a:defRPr>
            </a:pPr>
            <a:r>
              <a:rPr sz="975" b="1">
                <a:solidFill>
                  <a:srgbClr val="9BE7C5"/>
                </a:solidFill>
              </a:rPr>
              <a:t>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0C152A-5BFB-42CF-95E2-6E09FFC10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9906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2850" b="1">
                <a:solidFill>
                  <a:srgbClr val="F4F0E8"/>
                </a:solidFill>
              </a:defRPr>
            </a:pPr>
            <a:r>
              <a:rPr sz="2850" b="1">
                <a:solidFill>
                  <a:srgbClr val="F4F0E8"/>
                </a:solidFill>
              </a:rPr>
              <a:t>下一步要把底座能力收敛成可展示的业务闭环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CA38A2-8B2B-48B6-8137-D874EE1B6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436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B625F"/>
                </a:solidFill>
              </a:defRPr>
            </a:pPr>
            <a:r>
              <a:rPr sz="825">
                <a:solidFill>
                  <a:srgbClr val="5B625F"/>
                </a:solidFill>
              </a:rPr>
              <a:t>NeuG confidential draft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D0B670-2D9F-4804-95E3-0C5F1461F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62674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050">
                <a:solidFill>
                  <a:srgbClr val="5B625F"/>
                </a:solidFill>
              </a:defRPr>
            </a:pPr>
            <a:r>
              <a:rPr sz="1050">
                <a:solidFill>
                  <a:srgbClr val="5B625F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0CA3EB-508B-44FE-8725-CDEE3FA58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47850"/>
            <a:ext cx="3143250" cy="24003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8D518D-6A3C-4486-B443-D5DEF8E6F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47850"/>
            <a:ext cx="381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BE7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F6DE15-CAA7-4261-824B-B630AA5F6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0574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近期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9D370BF-B0CB-44BA-9261-93DABDB0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95550"/>
            <a:ext cx="26860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完成 vector extension 和 full-text，形成企业知识库与组织记忆 demo。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026EB9-5233-46CB-9013-BC41BC0A0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47850"/>
            <a:ext cx="3143250" cy="24003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27E124-B74B-40D5-932D-BFE849FF2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1847850"/>
            <a:ext cx="381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D6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12B976B-91D4-4B55-8BF1-58F7EEAC2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574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中期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F94A2F-D323-4109-8B04-E70694CC4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495550"/>
            <a:ext cx="26860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GDS 与 NeuGBI 深度集成，打磨企业经营分析 demo。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F714B74-89BA-4634-9630-292F7DBD7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47850"/>
            <a:ext cx="3143250" cy="2400300"/>
          </a:xfrm>
          <a:prstGeom xmlns:a="http://schemas.openxmlformats.org/drawingml/2006/main" prst="roundRect">
            <a:avLst>
              <a:gd name="adj" fmla="val 3175"/>
            </a:avLst>
          </a:prstGeom>
          <a:solidFill xmlns:a="http://schemas.openxmlformats.org/drawingml/2006/main">
            <a:srgbClr val="171B1F"/>
          </a:solidFill>
          <a:ln xmlns:a="http://schemas.openxmlformats.org/drawingml/2006/main" w="9525">
            <a:solidFill>
              <a:srgbClr val="30383D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D0B969-2670-4B20-A911-60B25FA97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847850"/>
            <a:ext cx="38100" cy="2400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8C77E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0D4A5C-BA0C-4F0E-897D-56369CE06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057400"/>
            <a:ext cx="26860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长期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0073C37-810C-4DF1-A607-35E0D09F6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495550"/>
            <a:ext cx="26860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A7A29A"/>
                </a:solidFill>
              </a:defRPr>
            </a:pPr>
            <a:r>
              <a:rPr sz="1275">
                <a:solidFill>
                  <a:srgbClr val="A7A29A"/>
                </a:solidFill>
              </a:rPr>
              <a:t>推进 SpecDB 研究，探索千问眼镜等端侧关联索引场景。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849F9D-1C19-4524-8AE9-006CA1C56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933950"/>
            <a:ext cx="10096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F4F0E8"/>
                </a:solidFill>
              </a:defRPr>
            </a:pPr>
            <a:r>
              <a:rPr sz="1725" b="1">
                <a:solidFill>
                  <a:srgbClr val="F4F0E8"/>
                </a:solidFill>
              </a:rPr>
              <a:t>汇报结论：NeuG 是一套能同时承载高性能图查询、LLM 数据中间层和未来端侧关联索引的嵌入式图数据引擎。</a:t>
            </a:r>
          </a:p>
        </p:txBody>
      </p:sp>
    </p:spTree>
    <p:extLst>
      <p:ext uri="{BB962C8B-B14F-4D97-AF65-F5344CB8AC3E}">
        <p14:creationId xmlns:p14="http://schemas.microsoft.com/office/powerpoint/2010/main" val="15477025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2026-07-03T03:02:12.9890000Z</dcterms:created>
  <dcterms:modified xsi:type="dcterms:W3CDTF">2026-07-03T03:02:12.9890000Z</dcterms:modified>
</coreProperties>
</file>